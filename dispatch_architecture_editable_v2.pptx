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2060"/>
                </a:solidFill>
              </a:rPr>
              <a:t>Flow 1: Application Users / App Owners using Dispatch Product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554480" cy="1097280"/>
          </a:xfrm>
          <a:prstGeom prst="roundRect">
            <a:avLst/>
          </a:prstGeom>
          <a:solidFill>
            <a:srgbClr val="E1EBFA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Users / App Owners
Perform actions
using Application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1828800" cy="1371600"/>
          </a:xfrm>
          <a:prstGeom prst="roundRect">
            <a:avLst/>
          </a:prstGeom>
          <a:solidFill>
            <a:srgbClr val="DCF5DC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React Frontend
• Dashboard
• Templates
• Notification Config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914400"/>
            <a:ext cx="2926080" cy="1828800"/>
          </a:xfrm>
          <a:prstGeom prst="roundRect">
            <a:avLst/>
          </a:prstGeom>
          <a:solidFill>
            <a:srgbClr val="FFEBD2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Spring Boot Backend (REST APIs)
• Authentication
• Notification Orchestration
• Business Services
• Audit &amp;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108960"/>
            <a:ext cx="2011680" cy="1188720"/>
          </a:xfrm>
          <a:prstGeom prst="roundRect">
            <a:avLst/>
          </a:prstGeom>
          <a:solidFill>
            <a:srgbClr val="DCE6FF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Thymeleaf
Template Engine
Process &amp; Render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914400"/>
            <a:ext cx="1645920" cy="1005840"/>
          </a:xfrm>
          <a:prstGeom prst="roundRect">
            <a:avLst/>
          </a:prstGeom>
          <a:solidFill>
            <a:srgbClr val="EBE1FF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Database 1
(R/W)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1645920" cy="1005840"/>
          </a:xfrm>
          <a:prstGeom prst="roundRect">
            <a:avLst/>
          </a:prstGeom>
          <a:solidFill>
            <a:srgbClr val="EBE1FF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Database 2
(Read Replica)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657600"/>
            <a:ext cx="2468880" cy="1280160"/>
          </a:xfrm>
          <a:prstGeom prst="roundRect">
            <a:avLst/>
          </a:prstGeom>
          <a:solidFill>
            <a:srgbClr val="FFF5D2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Notification Channels
Email | Teams
BigPanda | Jira
xMatters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18288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182880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16459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743200"/>
            <a:ext cx="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3657600"/>
            <a:ext cx="731519" cy="6400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2060"/>
                </a:solidFill>
              </a:rPr>
              <a:t>Flow 2: Application Teams using Apigee Gateway APIs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554480"/>
            <a:ext cx="1828800" cy="1188720"/>
          </a:xfrm>
          <a:prstGeom prst="roundRect">
            <a:avLst/>
          </a:prstGeom>
          <a:solidFill>
            <a:srgbClr val="E1EBFA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Application Teams
Consumers / Developers
Automation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280160"/>
            <a:ext cx="2286000" cy="1645920"/>
          </a:xfrm>
          <a:prstGeom prst="roundRect">
            <a:avLst/>
          </a:prstGeom>
          <a:solidFill>
            <a:srgbClr val="FFE1E1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Apigee API Gateway
• Routing
• Authentication
• Throttling
• Rate Limiter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280160"/>
            <a:ext cx="2468880" cy="1645920"/>
          </a:xfrm>
          <a:prstGeom prst="roundRect">
            <a:avLst/>
          </a:prstGeom>
          <a:solidFill>
            <a:srgbClr val="DCEBFF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Dispatch Product APIs
(Spring Boot)
• Notification APIs
• Template APIs
• Event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280160"/>
            <a:ext cx="2286000" cy="1645920"/>
          </a:xfrm>
          <a:prstGeom prst="roundRect">
            <a:avLst/>
          </a:prstGeom>
          <a:solidFill>
            <a:srgbClr val="E1FAE1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Dispatch Processing Layer
• Template Rendering
• Workflow Logic
• Retry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657600"/>
            <a:ext cx="2103120" cy="1005840"/>
          </a:xfrm>
          <a:prstGeom prst="roundRect">
            <a:avLst/>
          </a:prstGeom>
          <a:solidFill>
            <a:srgbClr val="EBE1FF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Shared Data Layer
DB1 + DB2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657600"/>
            <a:ext cx="2011680" cy="1005840"/>
          </a:xfrm>
          <a:prstGeom prst="roundRect">
            <a:avLst/>
          </a:prstGeom>
          <a:solidFill>
            <a:srgbClr val="FFF5D2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1414"/>
                </a:solidFill>
              </a:rPr>
              <a:t>Notification Channels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1031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21031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63840" y="210312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2926080"/>
            <a:ext cx="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80" y="2926080"/>
            <a:ext cx="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2060"/>
                </a:solidFill>
              </a:rPr>
              <a:t>Reference Architecture Diagram (Original Design Image)</a:t>
            </a:r>
          </a:p>
        </p:txBody>
      </p:sp>
      <p:pic>
        <p:nvPicPr>
          <p:cNvPr id="3" name="Picture 2" descr="a_clean_technical_diagram_image_with_two_large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